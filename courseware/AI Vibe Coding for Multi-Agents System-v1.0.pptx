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646920" y="502920"/>
            <a:ext cx="1828800" cy="13258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49840" y="886968"/>
            <a:ext cx="4572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886968"/>
            <a:ext cx="4572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740664"/>
            <a:ext cx="292608" cy="2926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48672" y="11430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99648" y="114300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43560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MULTI-AGENT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Vibe Coding for Multi-Agents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TGS-2020503207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11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QR code with your mobile phone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attendance — AM, PM and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on every training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75% attendance is required for assessment and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agents, multi-agent systems, machine learning and full-stack AI application development.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 vibe coding, agentic AI, machine learning and data analytics.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PROFILE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  ·  github.com/alfredang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LLMs or AI coding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852160" cy="397763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852160" cy="4206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65960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6596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8" y="196596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37360" y="1920240"/>
            <a:ext cx="4617720" cy="246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1911096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 Courses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017520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3017520"/>
            <a:ext cx="7315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017520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Slides (PPT)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118104"/>
            <a:ext cx="914400" cy="329184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118104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675888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675888"/>
            <a:ext cx="73152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75888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Slides (PDF)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3776472"/>
            <a:ext cx="914400" cy="32918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776472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334256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334256"/>
            <a:ext cx="73152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334256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 Guide (PDF)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4434840"/>
            <a:ext cx="914400" cy="32918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434840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4992624"/>
            <a:ext cx="5303520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4992624"/>
            <a:ext cx="73152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992624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Lesson Plan (PDF)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5093208"/>
            <a:ext cx="914400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5093208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Download</a:t>
            </a:r>
          </a:p>
        </p:txBody>
      </p:sp>
      <p:sp>
        <p:nvSpPr>
          <p:cNvPr id="35" name="Oval 34"/>
          <p:cNvSpPr/>
          <p:nvPr/>
        </p:nvSpPr>
        <p:spPr>
          <a:xfrm>
            <a:off x="694944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1965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1947672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lms-tms.tertiaryinfotech.com and sign in with the email you registered with.</a:t>
            </a:r>
          </a:p>
        </p:txBody>
      </p:sp>
      <p:sp>
        <p:nvSpPr>
          <p:cNvPr id="38" name="Oval 37"/>
          <p:cNvSpPr/>
          <p:nvPr/>
        </p:nvSpPr>
        <p:spPr>
          <a:xfrm>
            <a:off x="6949440" y="293522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29352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916936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My Courses and select this course.</a:t>
            </a:r>
          </a:p>
        </p:txBody>
      </p:sp>
      <p:sp>
        <p:nvSpPr>
          <p:cNvPr id="41" name="Oval 40"/>
          <p:cNvSpPr/>
          <p:nvPr/>
        </p:nvSpPr>
        <p:spPr>
          <a:xfrm>
            <a:off x="6949440" y="39044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39044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886200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the Trainer Slides, Learner Guide and Lesson Plan.</a:t>
            </a:r>
          </a:p>
        </p:txBody>
      </p:sp>
      <p:sp>
        <p:nvSpPr>
          <p:cNvPr id="44" name="Oval 43"/>
          <p:cNvSpPr/>
          <p:nvPr/>
        </p:nvSpPr>
        <p:spPr>
          <a:xfrm>
            <a:off x="6949440" y="48737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8737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855464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them open — the assessment is OPEN BOOK.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Analytics and Computational Modelling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TSC Code: ICT-DIT-3001-1.1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appropriate statistical algorithms and data models to test hypotheses or theories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appropriate analytics platforms and analytical tools given specific analytics and reporting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Utilise a range of statistical methods and analytics approaches to analyse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 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the performance and suitability of models against business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 per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Agent Foundations &amp; Vibe Coding for Multi-Agent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Digital Attendance (AM), introductions,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Modern Agent Foundations (Labs 1–2)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Vibe Coding for Multi-Agent Systems (Labs 3–4)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 begins: OpenAI Agents SDK (Lab 5)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Day 1 recap and PM digital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4617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Agent SDKs, MCP, Sub-Agents &amp;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 continues: supervisor routing, Streamlit (Labs 6–7)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4: Gemini Agent SDK (Labs 8–9)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5: MCP and Sub-Agents (Labs 10–11)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Course feedback and TRAQOM survey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Assessment: WA (SAQ) + PP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Daily timing: 9:30am–7:00pm · 8 instructional hours · 1-hour lunch · 2 tea breaks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Skills, memory, tools, MCP, and single-agent to multi-agent progression.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Vibe Coding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structured workflow with context engineering for reliable agent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outputs, tool calling, supervisor routing, Streamlit deployment.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Collaborative Gemini agents, deployed with Streamlit.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MCP &amp;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Tool orchestration and hierarchical sub-agent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TOPICS · ELEVEN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01 — Modern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anatomy · Skills · Memory · MCP · Single-agent to multi-agent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02 — Vibe Coding for Multi-Agent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Vibe coding workflow · Context engineering · Tooling · Agent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03 — Multi-Agent System Development with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design · Structured outputs · Tool calling · Supervisor routing · Streamlit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04 — Multi-Agent System Development with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Gemini agent design · Collaborative agents · Streamlit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05 — MCP and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MCP servers · Tool orchestration · Hierarchical sub-agent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Phones away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 alone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of any kind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on the script.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is called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(WA)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Short-Answer Questions (SAQ)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Tests underpinning knowledge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in your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(PP)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Hands-on multi-agent build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Tests practical ability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Based on the labs you did in class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 — slides, Learner Guide and approved materials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75% attendance required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Graded Competent / Not Yet Competent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appeal process is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Codes for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GitHub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github.com/tertiarycourses/TGS-2020503207-AI-Vibe-Coding-for-Multi-Agents-System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11 lab files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Markdown file per lab, with the complete runnable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Clone or browse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repo, or open any lab file directly in your browser.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Learner 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full detailed step-by-step for every lab — your open-book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One Agent to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 just a chatbot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chatbot answers; an agent pursues a goal, takes actions and checks its own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reasoning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Reason, act, observe — repeated until the goal is met or a limit is reached.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Functions the agent may call to reach beyond the model: APIs, files, databases, the shell.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it carries forward — the conversation now, and durable facts across sessions.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 with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agent chooses the path; you set the boundaries, the budget and the review gate.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now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Reliable tool calling and long context finally make the loop dependable enough to ship.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AN AGENT 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 Reasoning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468880"/>
            <a:ext cx="228600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user's request enters the loop</a:t>
            </a:r>
          </a:p>
        </p:txBody>
      </p:sp>
      <p:sp>
        <p:nvSpPr>
          <p:cNvPr id="11" name="Can 10"/>
          <p:cNvSpPr/>
          <p:nvPr/>
        </p:nvSpPr>
        <p:spPr>
          <a:xfrm>
            <a:off x="3227832" y="3310128"/>
            <a:ext cx="329184" cy="237744"/>
          </a:xfrm>
          <a:prstGeom prst="ca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2468880"/>
            <a:ext cx="228600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decides the next action</a:t>
            </a:r>
          </a:p>
        </p:txBody>
      </p:sp>
      <p:sp>
        <p:nvSpPr>
          <p:cNvPr id="16" name="Can 15"/>
          <p:cNvSpPr/>
          <p:nvPr/>
        </p:nvSpPr>
        <p:spPr>
          <a:xfrm>
            <a:off x="5989320" y="3310128"/>
            <a:ext cx="329184" cy="237744"/>
          </a:xfrm>
          <a:prstGeom prst="ca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6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2468880"/>
            <a:ext cx="228600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tool is called and executed</a:t>
            </a:r>
          </a:p>
        </p:txBody>
      </p:sp>
      <p:sp>
        <p:nvSpPr>
          <p:cNvPr id="21" name="Can 20"/>
          <p:cNvSpPr/>
          <p:nvPr/>
        </p:nvSpPr>
        <p:spPr>
          <a:xfrm>
            <a:off x="8750808" y="3310128"/>
            <a:ext cx="329184" cy="237744"/>
          </a:xfrm>
          <a:prstGeom prst="ca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53144" y="2468880"/>
            <a:ext cx="2286000" cy="19202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468880"/>
            <a:ext cx="2286000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85292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383280"/>
            <a:ext cx="19933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re-enters the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709160"/>
            <a:ext cx="7827264" cy="320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↖  the loop repeats until the goal is met or the turn limit is reached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TO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Best when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The task is narrow and well defined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 handful of tools is enough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Context stays small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Limits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 many tools confuse tool choice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One long context mixes unrelated work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One instruction set must cover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Best when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The work splits into distinct specialities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Each part needs its own tools and rules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Parts can run in parallel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Benefits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Focused instructions per agent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Isolated context per agent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Easier to test and replace one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PATTERN YOU WILL BUILD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Architecture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SUPERVISOR / TRIAGE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025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243459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Searches and gathers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4025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4916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187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1870" y="3246120"/>
            <a:ext cx="243459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159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159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Writes and runs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916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807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078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6120"/>
            <a:ext cx="243459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50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Writing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50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Drafts and edits prose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807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66985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9690" y="3246120"/>
            <a:ext cx="243459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49690" y="3246120"/>
            <a:ext cx="2434590" cy="91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9418" y="3502152"/>
            <a:ext cx="221513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11D48"/>
                </a:solidFill>
                <a:latin typeface="Arial"/>
              </a:rPr>
              <a:t>Analysis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9418" y="3931920"/>
            <a:ext cx="221513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Computes and interprets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6985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TOOLS / MCP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One agent that does everything does nothing well.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Split the work by speciality, give each agent its own tools and context, and let a supervisor route the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UNIVERSAL TOOL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Context Protocol (MCP)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framework needed its own bespoke integration for the same tool.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MCP is an open protocol for exposing tools, resources and prompts to any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server publishes typed tools — you write the capability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Any MCP-aware agent discovers those tools and calls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stdio for local servers; HTTP/SSE for remote 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payoff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it once, and every MCP-aware agent can use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Modern Agent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anatomy · Skills · Memory · MCP · Single-agent to 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a modern AI agent?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LLM that reasons in a loop, calls tools, keeps memory and pursues a goal — not a single prompt-and-response.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Modular, transferable capabilities packaged so an agent can load only what a task needs, and reuse them across projects.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memory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Short-term context versus long-term stores; what to remember, what to summarise and what to discard.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Model Context Protocol (MCP)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open standard that lets an agent discover and call external tools and data sources through a uniform interface.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Tools and tool calling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chooses a function, the runtime executes it, and the result re-enters the reasoning loop.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Single-agent to multi-agent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When one agent's context and responsibilities grow too large, split the work across specialised collaborating agents.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Tool-Calling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Agent Memory and Reusable Agent Skills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Tool-Calling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a single agent from first principles so the loop is not a black box: the model receives a goal, decides to call a tool, your code executes it, and the result is fed back until the agent can answer. You will see every message that crosses the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runnable Python agent that answers questions by calling two of your own tools, printing each reasoning step and tool result so the loop is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OpenAI Python SDK, uv/pip, .env for API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Set up the project
and API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two Python
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Describe them as
JSON schemas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
agent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and read
the 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Tool-Calling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agent answers both parts of the question in one run, and the printed trace shows it called get_weather once and calculate once before producing the final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Memory and Reusable Agent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 the agent memory so it stops forgetting between turns, then extract a repeatable procedure into a skill file the agent loads on demand — the modular, transferable capability described in the course outline.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agent with a conversation buffer plus a persistent JSON memory store, and one reusable skill file that the agent loads only when the task calls for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 SDK, JSON file store, Markdown skill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short-term
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persistent
JSON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 recalled
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reusable
skill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the skill
on 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Agent Memory and Reusable Agent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Tell the agent a fact, restart the process, ask about it again — the agent recalls it from memory.json. With the skill loaded, the agent follows the documented procedure instead of improvising.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Modern Agent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Explain the components of a modern AI agent and implement a reasoning loop with tool calling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short-term and long-term agent memory, and package a capability as a reusable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for 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Vibe coding workflow · Context engineering · Tooling · Agent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vibe coding?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Directing an AI coding agent in natural language to generate, run and refine working software, while you stay the reviewer and architect.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structured workflow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Specify, then scaffold, then generate, then run, then verify, then refine — a disciplined loop, not one-shot prompting.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 engineering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Curating exactly the files, specs and constraints the agent sees, which drives reliability far more than prompt wording.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Vibe coding tools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Claude Code, Gemini CLI, Codex CLI, Cursor, Windsurf, Antigravity and Trae — terminal agents and agentic IDEs.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 skills integration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Packaging repeatable procedures as skills the coding agent invokes, so quality does not depend on re-explaining each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in the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own the specification, the review and the acceptance test; the agent owns the typing.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SPECIFY → SCAFFOLD → GENERATE → VERIFY → REFINE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Structured Vibe Coding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SPECIFY — write the spec and the acceptance test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SCAFFOLD — let the agent build the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— implement one component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&amp; VERIFY — execute, paste real errors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REFINE — one improvement per iteration, commit 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CHOOSE YOUR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91440" cy="18745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TERMINAL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claude.com/product/claude-code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8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Gemini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geminicli.com/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Codex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developers.openai.com/codex/cli/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233171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49631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Grok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95351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grokcli.io/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14799"/>
            <a:ext cx="91440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AGENTIC IDEs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cursor.com/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5888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6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Windsurf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windsurf.com/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Google Antigravity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antigravity.google/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4571999"/>
            <a:ext cx="2377440" cy="123444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4736591"/>
            <a:ext cx="21579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5193791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www.trae.ai/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HIGHEST-LEVERAGE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— What Actually Drives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Curate, don't dump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the agent the few files that matter, not the whole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 context file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CLAUDE.md / GEMINI.md states the stack, conventions and prohibitions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Precise references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Point at file paths and line ranges instead of pasting large blocks.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 a repeatable procedure so quality does not depend on re-explaining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Specify before generating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written spec and acceptance test beat any amount of prompt wording.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the reviewer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 every diff. You own the architecture and the acceptance decision.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Vibe Code an Agent with a Structured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Context Engineering and a Reusable Coding 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Code an Agent with a Structured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an AI coding agent to build a working application without hand-writing the implementation, following a disciplined loop rather than one-shot prompting. The specification you write is the real deliverable; the agent produces the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research-assistant agent generated by a coding agent from your written specification, with an acceptance test you defined before any code existed.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Claude Code / Gemini CLI / Cursor, Python,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SPEC.md
and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Scaffold the
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one
component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and paste
real errors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Verify, commit,
refine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Vibe Code an Agent with a Structured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generated agent passes the acceptance test you wrote in SPEC.md before any code existed, and the Git history shows small reviewable commits rather than one giant unreviewed dump.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and a Reusable Coding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Improve reliability by controlling exactly what the coding agent sees, then capture your house conventions as a skill so the agent applies them automatically instead of you re-explaining them in every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project configured with a context file and a reusable skill, demonstrably producing house-standard code without repeated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Claude Code / Gemini CLI, Markdown,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a
vague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project
context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
new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reusable
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Reference precise
files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 Engineering and a Reusable Coding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With the context file and skill in place, the same prompt that previously produced inconsistent code now yields code matching your stated conventions, without you restating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for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the structured vibe coding workflow — specify, scaffold, generate, run, verify, refine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Engineer the agent's context and package a repeatable procedure as a project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 Development with OpenAI Agents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 design · Structured outputs · Tool calling · Supervisor routing ·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 ·  25%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OpenAI Agents SDK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lightweight Python framework for agents, tools, handoffs and guardrails, with tracing built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Agents and instructions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a model plus instructions plus a tool set; clear role boundaries make multi-agent behaviour predictable.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Structured 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Pydantic output types force the model to return validated, typed data your code can rely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 tools and API calls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Decorate a Python function as a tool so the agent can call your own logic and external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Supervisor routing and handoffs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triage agent classifies the request and delegates to the specialist sub-agent best suited to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Streamlit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Wrap the multi-agent system in a simple web UI so non-developers can use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OpenAI Agents SDK — Triage and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TRIAGE AGENT  (handoffs)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Research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Web search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Code execution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Writing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Drafting and editing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@function_tool  ·  PYDANTIC STRUCTURED OUTPUTS  · 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OPENAI AGENTS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model plus instructions plus tools — the unit of specialisation.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Executes the agent loop: Runner.run_sync(agent, prompt).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@function_tool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Turns a Python function into a callable tool from its type hints and docstring.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output_type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Pydantic model that forces validated, typed output instead of free prose.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list of specialists a triage agent may delegate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Input and output checks that stop out-of-scope or unsafe work early.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First Agent with the OpenAI Agents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Supervisor Routing and Sub-Agent Delegation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Multi-Agent System with 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Agent with the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Rebuild the hand-rolled agent from Lab 1 on the OpenAI Agents SDK and see how much the framework removes. Add a Pydantic output type so the agent returns validated typed data instead of prose, and expose your own Python functions as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SDK-based agent that calls your function tools and returns a validated Pydantic object your code can use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openai-agents SDK, Pydantic, .env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
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Agent
and Runner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Pydantic
output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@function_tool
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the
run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First Agent with the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result.final_output is an instance of your Pydantic model with correctly typed fields, and the run trace shows the expected tool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Supervisor Routing and Sub-Agent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Move from one overloaded agent to a team. Build three specialists and a triage supervisor that classifies each request and hands it to the right one — the core multi-agent pattern of the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four-agent system — a triage supervisor plus research, coding and writing specialists — that routes each request to the correct specialist.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openai-agents SDK, Pydantic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three
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
triage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the routing
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an input
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the
handoff chain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Supervisor Routing and Sub-Agent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research question reaches the research agent, a coding request reaches the coding agent, and an out-of-scope request is refused by the guardrail before any specialist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Put a web interface on the agent team from Lab 6 so a non-developer can use it, streaming the reply and showing which agent handled each request.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running Streamlit chat application backed by your multi-agent system, with visible routing and persistent conversation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Streamlit, openai-agents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Streamlit
and create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
chat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Hold history in
session_state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routing
to the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Stream the
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 runs at localhost:8501, answers a multi-turn conversation with history intact, names the specialist that handled each turn, and contains no hard-coded API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Multi-Agent System Development with OpenAI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an agent with the OpenAI Agents SDK using structured outputs and function tools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Construct a collaborative multi-agent system with supervisor routing and handoffs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 collaborative multi-agent system as a shareable Streamlit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 Development with Gemini Agent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Gemini agent design · Collaborative agents · Streamlit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 ·  20%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Google Gemini Agent SDK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Google's Agent Development Kit (ADK) for building, composing and running Gemini-powered agents in Python.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Defining a Gemini agent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Model, instruction, description and tools — the description is what makes an agent discoverable by its coordinator.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 tools in ADK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Plain Python functions become tools; the docstring and type hints tell the model how and when to call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Multi-agent composition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Sub-agents attached to a coordinator agent, which routes each request to the right specialist.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Sessions and runners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runner executes the agent loop while the session service carries conversational 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Comparing the SDKs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multi-agent pattern expressed in two ecosystems — portable concepts, different APIs.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Gemini Agent SDK (ADK) — Coordinator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COORDINATOR AGENT  (sub_agents)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Specialist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Specialist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Specialist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tools and instruction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PYTHON FUNCTION TOOLS  ·  RUNNER  ·  SESSION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SAME PATTERN, TWO ECOSYSTEMS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OpenAI Agents SDK vs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212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OPENAI 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GOOGLE GEMINI ADK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Package: openai-agents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Agent(name, instructions, tools)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Runner.run_sync(agent, prompt)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Delegation via handoffs=[...]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Typed output via output_type=Model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Tool via @function_tool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Package: google-adk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Agent(name, model, description, instruction)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Runner + InMemorySessionService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Delegation via sub_agents=[...]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Routing driven by each agent's description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–  Tool via a plain Python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Multi-Agent System with the Gemini Agent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Gemini Multi-Agent System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Multi-Agent System with the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Express the same multi-agent pattern in Google's ecosystem. Building the equivalent system twice separates the portable concepts — agents, tools, routing — from one vendor's API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Gemini-powered coordinator agent with two specialist sub-agents and working function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google-adk, Google AI Studio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
Google ADK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Gemini
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Python
function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Attach two
sub-agents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the
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Multi-Agent System with the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coordinator routes each request to the correct sub-agent, and the tools return live results — the same behaviour as the OpenAI build, in a different SDK.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Gemini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 the Gemini agent team the same web interface treatment, then compare the two deployments side by side and record which ecosystem fits which kind of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deployed Streamlit application backed by the Gemini multi-agent system, plus a short written comparison of the two SDKs.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Streamlit, google-adk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Import the ADK
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 session
and runner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Render and stream
the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handling
sub-agent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
two SDKs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Gemini Multi-Agent System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Gemini app runs, routes correctly and holds conversation state, and your README records a concrete comparison of the two SDKs.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Multi-Agent System Development with Gemini Agent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collaborative agents with the Google Gemini Agent SDK (ADK)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 Gemini-based collaborative multi-agent system with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MCP and Sub-Agents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MCP servers · Tool orchestration · Hierarchical sub-agent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 ·  15%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MCP in depth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Servers expose tools, resources and prompts; clients (your agent, Claude Code) discover and invoke them over a standard protocol.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Why MCP matters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a capability once as a server, and every MCP-aware agent can use it — no bespoke integration per framework.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an MCP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typed tools with FastMCP and run them over stdio for local agents.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Tool orchestration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Sequencing several tools to complete one goal, and handling partial failure sensibly.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Hierarchical sub-agents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parent delegates a bounded task to a child agent with its own context, tools and instructions.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Context isolation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Sub-agents keep the parent's context clean by returning only the conclusion, not the whole working trace.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WRITE ONCE · USE FROM ANY MCP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MCP Connects an Agent to Your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write an MCP server exposing typed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server runs over stdio (or HTTP)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register it with an MCP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client discovers the tool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agent calls tools as it reasons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05 · THREE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200400" cy="777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ORCHESTRATOR  (decompose and delegate)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174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Sub-Agent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9174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362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Sub-Agent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5500" y="2724912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246120"/>
            <a:ext cx="3337560" cy="137160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246120"/>
            <a:ext cx="33375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502152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Sub-Agent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931920"/>
            <a:ext cx="311810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 context and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5500" y="4617720"/>
            <a:ext cx="27432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91440" cy="7315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10561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MCP SERVER  ·  TYPED TOOLS SHARED BY EVERY SUB-AGENT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ARCHITECTURAL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Context Isolation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agent doing everything fills its context with irrelevant working detail.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fix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sub-agent works in its own context and returns only the conclusion.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parent stays clean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orchestrator sees answers, not transcripts.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Parallelism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sub-agents run concurrently, cutting wall-clock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Failure containment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failing sub-agent degrades the result instead of killing the run.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Testability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sub-agent has a narrow contract you can test on its own.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and Connect an MCP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Hierarchical Sub-Agents and Context Isolation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Connect an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Write your own MCP server exposing typed tools, then connect it to a coding agent. Because MCP is an open standard, the same server works with any MCP-aware client — write the capability once, use it everywhere.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MCP server with three typed tools, connected to and callable from your coding agent.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3.11+, FastMCP (mcp package), Claude Code or another MCP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MCP and
create server.py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three
typed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the server
over stdio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with the
MCP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 the tools
from the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and Connect an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MCP client lists all three tools, and the agent completes a task that is impossible without them, calling the tools in a sensible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Sub-Agents and Context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the top of the architecture: a parent agent that delegates bounded tasks to specialised child agents, each with its own context and tools. The children return conclusions, not their whole working trace, which is what keeps a large system reliable.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91440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three-level hierarchical system — orchestrator, sub-agents and MCP tools — that completes a multi-part task no single agent handles well.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9379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Python, openai-agents SDK or google-adk, your MCP server from Lab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AT A GLANCE  · 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the parent
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Expose sub-agents
as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Isolate each
child's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independent
work concurrently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Handle a failing
sub-agent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Sub-Agents and Context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orchestrator completes the multi-part task by delegating to at least three sub-agents; the parent's context stays small because children return conclusions only, and one deliberately failing sub-agent does not crash the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Detailed step-by-step instructions for this lab are in the Learner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MCP and Sub-Agents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Orchestrate tools through the Model Context Protocol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Design a hierarchical sub-agent architecture with delegated, isolated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Agent Foundations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tool-calling agent with memory and a reusable skill.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Vibe Coding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specify-scaffold-generate-verify-refine with engineered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OpenAI Agents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and deployed a supervisor-routed multi-agent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Gemini Agent SDK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and deployed the same pattern on Google's ADK.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MCP &amp; Sub-Agents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Wrote an MCP server and a hierarchical sub-agent architecture.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from 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the labs without the guide until the patterns are automatic.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Ship something small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Pick one real task at work and build a two-agent system for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 an MCP server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Wrap a capability your team already uses and share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Add evaluation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test cases for your agents and measure changes against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Watch the ecosystem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SDKs move quickly — follow their changelogs.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the human 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agent output before it reaches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 ·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From one agent to many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moved from a single tool-calling agent to hierarchical multi-agent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Two ecosystems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built the same architecture twice — OpenAI Agents SDK and Google Gemini ADK.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Vibe coding as 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Engineered context and a written spec — a build method, not a shortcut.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MCP as leverage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capability written once becomes reusable by every agent you write.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 isolation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Sub-agents return conclusions, keeping the parent reliable at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Questions?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anything before we move to the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(WA)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Short-Answer Questions (SAQ)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50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Answer in your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Practical (PP)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build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Based on the labs you did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 — slides and Learner Guide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Take the Assessment digital attendance (TRAQOM)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the LMS: https://lms-tms.tertiaryinfotech.com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9712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9712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8785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8785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4329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37858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7858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402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6931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6931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2475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2689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6060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6004" y="2587752"/>
            <a:ext cx="713232" cy="7132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6004" y="2587752"/>
            <a:ext cx="7132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548" y="3447288"/>
            <a:ext cx="162214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Certificate and TRAQOM survey on the LMS — both are mandatory.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deploy collaborative multi-agent AI systems — with vibe coding as your build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Multi-Agents System  ·  TGS-2020503207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